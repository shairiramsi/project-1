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2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3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9" r:id="rId13"/>
    <p:sldId id="273" r:id="rId14"/>
    <p:sldId id="274" r:id="rId15"/>
    <p:sldId id="270" r:id="rId16"/>
    <p:sldId id="271" r:id="rId17"/>
    <p:sldId id="278" r:id="rId18"/>
    <p:sldId id="277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hp\Desktop\MAIN%20PROJECT%20FILE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MAIN%20PROJECT%20FIL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MAIN%20PROJECT%20FIL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MAIN%20PROJECT%20FIL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C:\Users\hp\Desktop\MAIN%20PROJECT%20FILE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C:\Users\hp\Desktop\MAIN%20PROJECT%20FILE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MAIN%20PROJECT%20FILE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MAIN%20PROJECT%20FILE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[MAIN PROJECT FILE.xlsx]datasetA-Chart1!PivotTable4</c:name>
    <c:fmtId val="7"/>
  </c:pivotSource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Microsoft YaHei" panose="020B0503020204020204" pitchFamily="34" charset="-122"/>
              </a:defRPr>
            </a:pPr>
            <a:r>
              <a:rPr lang="en-IN"/>
              <a:t>weathersit</a:t>
            </a:r>
            <a:r>
              <a:rPr lang="en-IN" baseline="0"/>
              <a:t> vs count</a:t>
            </a:r>
            <a:endParaRPr lang="en-IN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4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  <a:sym typeface="Microsoft YaHei" panose="020B0503020204020204" pitchFamily="34" charset="-122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lIns="38100" tIns="19050" rIns="38100" bIns="19050" anchor="ctr" anchorCtr="1" forceAA="0"/>
            <a:lstStyle/>
            <a:p>
              <a:pPr>
                <a:defRPr lang="zh-CN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  <a:sym typeface="Microsoft YaHei" panose="020B0503020204020204" pitchFamily="34" charset="-122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lIns="38100" tIns="19050" rIns="38100" bIns="19050" anchor="ctr" anchorCtr="1" forceAA="0"/>
            <a:lstStyle/>
            <a:p>
              <a:pPr>
                <a:defRPr lang="zh-CN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  <a:sym typeface="Microsoft YaHei" panose="020B0503020204020204" pitchFamily="34" charset="-122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lIns="38100" tIns="19050" rIns="38100" bIns="19050" anchor="ctr" anchorCtr="1" forceAA="0"/>
            <a:lstStyle/>
            <a:p>
              <a:pPr>
                <a:defRPr lang="zh-CN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  <a:sym typeface="Microsoft YaHei" panose="020B0503020204020204" pitchFamily="34" charset="-122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'datasetA-Chart1'!$B$3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anose="020B0503020204020204" pitchFamily="34" charset="-122"/>
                    <a:sym typeface="Microsoft YaHei" panose="020B0503020204020204" pitchFamily="3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'datasetA-Chart1'!$A$4:$A$8</c:f>
              <c:strCache>
                <c:ptCount val="4"/>
                <c:pt idx="0">
                  <c:v>Clear</c:v>
                </c:pt>
                <c:pt idx="1">
                  <c:v>Cloudy</c:v>
                </c:pt>
                <c:pt idx="2">
                  <c:v>Fog</c:v>
                </c:pt>
                <c:pt idx="3">
                  <c:v>Heavy Rain</c:v>
                </c:pt>
              </c:strCache>
            </c:strRef>
          </c:cat>
          <c:val>
            <c:numRef>
              <c:f>'datasetA-Chart1'!$B$4:$B$8</c:f>
              <c:numCache>
                <c:formatCode>General</c:formatCode>
                <c:ptCount val="4"/>
                <c:pt idx="0">
                  <c:v>21973</c:v>
                </c:pt>
                <c:pt idx="1">
                  <c:v>1463</c:v>
                </c:pt>
                <c:pt idx="2">
                  <c:v>10426</c:v>
                </c:pt>
                <c:pt idx="3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E0-48A7-919D-05C55CA076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60"/>
        <c:overlap val="-32"/>
        <c:axId val="346852054"/>
        <c:axId val="232933419"/>
      </c:barChart>
      <c:catAx>
        <c:axId val="3468520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accent1"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Microsoft YaHei" panose="020B0503020204020204" pitchFamily="34" charset="-122"/>
              </a:defRPr>
            </a:pPr>
            <a:endParaRPr lang="en-US"/>
          </a:p>
        </c:txPr>
        <c:crossAx val="232933419"/>
        <c:crosses val="autoZero"/>
        <c:auto val="1"/>
        <c:lblAlgn val="ctr"/>
        <c:lblOffset val="100"/>
        <c:noMultiLvlLbl val="0"/>
      </c:catAx>
      <c:valAx>
        <c:axId val="232933419"/>
        <c:scaling>
          <c:orientation val="minMax"/>
        </c:scaling>
        <c:delete val="1"/>
        <c:axPos val="l"/>
        <c:majorGridlines>
          <c:spPr>
            <a:ln w="6350" cap="flat" cmpd="sng" algn="ctr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3468520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31dc645-18f7-4ecc-8db2-ce18bb618b6d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round/>
    </a:ln>
    <a:effectLst/>
  </c:spPr>
  <c:txPr>
    <a:bodyPr/>
    <a:lstStyle/>
    <a:p>
      <a:pPr>
        <a:defRPr lang="zh-CN" sz="900">
          <a:solidFill>
            <a:schemeClr val="tx1">
              <a:lumMod val="75000"/>
              <a:lumOff val="2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Microsoft YaHei" panose="020B0503020204020204" pitchFamily="34" charset="-122"/>
          <a:sym typeface="Microsoft YaHei" panose="020B0503020204020204" pitchFamily="34" charset="-122"/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[MAIN PROJECT FILE.xlsx]datasetA-Chart2!PivotTable5</c:name>
    <c:fmtId val="8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'datasetA-Chart2'!$B$3</c:f>
              <c:strCache>
                <c:ptCount val="1"/>
                <c:pt idx="0">
                  <c:v>Sum of T.Count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'datasetA-Chart2'!$A$4:$A$6</c:f>
              <c:strCache>
                <c:ptCount val="2"/>
                <c:pt idx="0">
                  <c:v> weekend</c:v>
                </c:pt>
                <c:pt idx="1">
                  <c:v>weekday</c:v>
                </c:pt>
              </c:strCache>
            </c:strRef>
          </c:cat>
          <c:val>
            <c:numRef>
              <c:f>'datasetA-Chart2'!$B$4:$B$6</c:f>
              <c:numCache>
                <c:formatCode>General</c:formatCode>
                <c:ptCount val="2"/>
                <c:pt idx="0">
                  <c:v>7986</c:v>
                </c:pt>
                <c:pt idx="1">
                  <c:v>25912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A0-4518-BF2A-5A8C331CB137}"/>
            </c:ext>
          </c:extLst>
        </c:ser>
        <c:ser>
          <c:idx val="1"/>
          <c:order val="1"/>
          <c:tx>
            <c:strRef>
              <c:f>'datasetA-Chart2'!$C$3</c:f>
              <c:strCache>
                <c:ptCount val="1"/>
                <c:pt idx="0">
                  <c:v>Sum of Registered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'datasetA-Chart2'!$A$4:$A$6</c:f>
              <c:strCache>
                <c:ptCount val="2"/>
                <c:pt idx="0">
                  <c:v> weekend</c:v>
                </c:pt>
                <c:pt idx="1">
                  <c:v>weekday</c:v>
                </c:pt>
              </c:strCache>
            </c:strRef>
          </c:cat>
          <c:val>
            <c:numRef>
              <c:f>'datasetA-Chart2'!$C$4:$C$6</c:f>
              <c:numCache>
                <c:formatCode>General</c:formatCode>
                <c:ptCount val="2"/>
                <c:pt idx="0">
                  <c:v>6686</c:v>
                </c:pt>
                <c:pt idx="1">
                  <c:v>24466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A0-4518-BF2A-5A8C331CB1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1971817"/>
        <c:axId val="884573072"/>
      </c:barChart>
      <c:catAx>
        <c:axId val="51971817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4573072"/>
        <c:crosses val="autoZero"/>
        <c:auto val="1"/>
        <c:lblAlgn val="ctr"/>
        <c:lblOffset val="100"/>
        <c:noMultiLvlLbl val="0"/>
      </c:catAx>
      <c:valAx>
        <c:axId val="884573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97181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3cb2dc9-135c-4cca-b4d1-ed8444577cb5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[MAIN PROJECT FILE.xlsx]datasetA-Chart3!PivotTable6</c:name>
    <c:fmtId val="4"/>
  </c:pivotSource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aseline="0"/>
              <a:t>Windspeed vs Count</a:t>
            </a:r>
            <a:endParaRPr lang="en-IN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solidFill>
              <a:schemeClr val="bg1"/>
            </a:solidFill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solidFill>
              <a:schemeClr val="bg1"/>
            </a:solidFill>
          </a:ln>
          <a:effectLst/>
        </c:spPr>
      </c:pivotFmt>
      <c:pivotFmt>
        <c:idx val="2"/>
        <c:spPr>
          <a:solidFill>
            <a:schemeClr val="accent1"/>
          </a:solidFill>
          <a:ln>
            <a:solidFill>
              <a:schemeClr val="bg1"/>
            </a:solidFill>
          </a:ln>
          <a:effectLst/>
        </c:spPr>
      </c:pivotFmt>
      <c:pivotFmt>
        <c:idx val="3"/>
        <c:spPr>
          <a:solidFill>
            <a:schemeClr val="accent1"/>
          </a:solidFill>
          <a:ln>
            <a:solidFill>
              <a:schemeClr val="bg1"/>
            </a:solidFill>
          </a:ln>
          <a:effectLst/>
        </c:spPr>
      </c:pivotFmt>
      <c:pivotFmt>
        <c:idx val="4"/>
        <c:spPr>
          <a:solidFill>
            <a:schemeClr val="accent1"/>
          </a:solidFill>
          <a:ln>
            <a:solidFill>
              <a:schemeClr val="bg1"/>
            </a:solidFill>
          </a:ln>
          <a:effectLst/>
        </c:spPr>
      </c:pivotFmt>
      <c:pivotFmt>
        <c:idx val="5"/>
        <c:spPr>
          <a:solidFill>
            <a:schemeClr val="accent1"/>
          </a:solidFill>
          <a:ln>
            <a:solidFill>
              <a:schemeClr val="bg1"/>
            </a:solidFill>
          </a:ln>
          <a:effectLst/>
        </c:spPr>
      </c:pivotFmt>
      <c:pivotFmt>
        <c:idx val="6"/>
        <c:spPr>
          <a:solidFill>
            <a:schemeClr val="accent1"/>
          </a:solidFill>
          <a:ln>
            <a:solidFill>
              <a:schemeClr val="bg1"/>
            </a:solidFill>
          </a:ln>
          <a:effectLst/>
        </c:spPr>
      </c:pivotFmt>
      <c:pivotFmt>
        <c:idx val="7"/>
        <c:spPr>
          <a:solidFill>
            <a:schemeClr val="accent1"/>
          </a:solidFill>
          <a:ln>
            <a:solidFill>
              <a:schemeClr val="bg1"/>
            </a:solidFill>
          </a:ln>
          <a:effectLst/>
        </c:spPr>
      </c:pivotFmt>
      <c:pivotFmt>
        <c:idx val="8"/>
        <c:spPr>
          <a:solidFill>
            <a:schemeClr val="accent1"/>
          </a:solidFill>
          <a:ln>
            <a:solidFill>
              <a:schemeClr val="bg1"/>
            </a:solidFill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>
            <a:solidFill>
              <a:schemeClr val="bg1"/>
            </a:solidFill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>
            <a:solidFill>
              <a:schemeClr val="bg1"/>
            </a:solidFill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>
            <a:solidFill>
              <a:schemeClr val="bg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solidFill>
              <a:schemeClr val="bg1"/>
            </a:solidFill>
          </a:ln>
          <a:effectLst/>
        </c:spPr>
        <c:marker>
          <c:symbol val="none"/>
        </c:marker>
      </c:pivotFmt>
      <c:pivotFmt>
        <c:idx val="13"/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solidFill>
              <a:schemeClr val="bg1"/>
            </a:solidFill>
          </a:ln>
          <a:effectLst/>
        </c:spPr>
        <c:marker>
          <c:symbol val="none"/>
        </c:marker>
      </c:pivotFmt>
      <c:pivotFmt>
        <c:idx val="15"/>
        <c:spPr>
          <a:solidFill>
            <a:schemeClr val="accent1"/>
          </a:solidFill>
          <a:ln>
            <a:solidFill>
              <a:schemeClr val="bg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2"/>
          </a:solidFill>
          <a:ln>
            <a:solidFill>
              <a:schemeClr val="bg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solidFill>
              <a:schemeClr val="bg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solidFill>
              <a:schemeClr val="bg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solidFill>
              <a:schemeClr val="bg1"/>
            </a:solidFill>
          </a:ln>
          <a:effectLst/>
        </c:spPr>
        <c:marker>
          <c:symbol val="none"/>
        </c:marker>
      </c:pivotFmt>
      <c:pivotFmt>
        <c:idx val="20"/>
        <c:spPr>
          <a:solidFill>
            <a:schemeClr val="accent1"/>
          </a:solidFill>
          <a:ln>
            <a:solidFill>
              <a:schemeClr val="bg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solidFill>
              <a:schemeClr val="bg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solidFill>
              <a:schemeClr val="bg1"/>
            </a:solidFill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'datasetA-Chart3'!$A$3</c:f>
              <c:strCache>
                <c:ptCount val="1"/>
                <c:pt idx="0">
                  <c:v>Sum of T.Count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C942-4CF7-9330-754F692C538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942-4CF7-9330-754F692C538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C942-4CF7-9330-754F692C538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942-4CF7-9330-754F692C538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C942-4CF7-9330-754F692C538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942-4CF7-9330-754F692C5385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C942-4CF7-9330-754F692C538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'datasetA-Chart3'!$A$4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'datasetA-Chart3'!$A$4</c:f>
              <c:numCache>
                <c:formatCode>General</c:formatCode>
                <c:ptCount val="1"/>
                <c:pt idx="0">
                  <c:v>33898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942-4CF7-9330-754F692C5385}"/>
            </c:ext>
          </c:extLst>
        </c:ser>
        <c:ser>
          <c:idx val="1"/>
          <c:order val="1"/>
          <c:tx>
            <c:strRef>
              <c:f>'datasetA-Chart3'!$B$3</c:f>
              <c:strCache>
                <c:ptCount val="1"/>
                <c:pt idx="0">
                  <c:v>Sum of Registered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'datasetA-Chart3'!$A$4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'datasetA-Chart3'!$B$4</c:f>
              <c:numCache>
                <c:formatCode>General</c:formatCode>
                <c:ptCount val="1"/>
                <c:pt idx="0">
                  <c:v>31152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942-4CF7-9330-754F692C5385}"/>
            </c:ext>
          </c:extLst>
        </c:ser>
        <c:ser>
          <c:idx val="2"/>
          <c:order val="2"/>
          <c:tx>
            <c:strRef>
              <c:f>'datasetA-Chart3'!$C$3</c:f>
              <c:strCache>
                <c:ptCount val="1"/>
                <c:pt idx="0">
                  <c:v>Sum of Temp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'datasetA-Chart3'!$A$4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'datasetA-Chart3'!$C$4</c:f>
              <c:numCache>
                <c:formatCode>General</c:formatCode>
                <c:ptCount val="1"/>
                <c:pt idx="0">
                  <c:v>120.10000000000005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942-4CF7-9330-754F692C53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087525631"/>
        <c:axId val="16192783"/>
      </c:barChart>
      <c:catAx>
        <c:axId val="108752563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192783"/>
        <c:crosses val="autoZero"/>
        <c:auto val="1"/>
        <c:lblAlgn val="ctr"/>
        <c:lblOffset val="100"/>
        <c:noMultiLvlLbl val="0"/>
      </c:catAx>
      <c:valAx>
        <c:axId val="16192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75256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aa0fb58-41f1-4c4b-ba26-17d7453e850a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[MAIN PROJECT FILE.xlsx]datasetA-Chart4!PivotTable7</c:name>
    <c:fmtId val="4"/>
  </c:pivotSource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Windspeed</a:t>
            </a:r>
            <a:r>
              <a:rPr lang="en-IN" baseline="0"/>
              <a:t> vs Count</a:t>
            </a:r>
            <a:endParaRPr lang="en-IN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'datasetA-Chart4'!$B$3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'datasetA-Chart4'!$A$4:$A$24</c:f>
              <c:strCache>
                <c:ptCount val="20"/>
                <c:pt idx="0">
                  <c:v>0</c:v>
                </c:pt>
                <c:pt idx="1">
                  <c:v>0.0896</c:v>
                </c:pt>
                <c:pt idx="2">
                  <c:v>0.1045</c:v>
                </c:pt>
                <c:pt idx="3">
                  <c:v>0.1343</c:v>
                </c:pt>
                <c:pt idx="4">
                  <c:v>0.1642</c:v>
                </c:pt>
                <c:pt idx="5">
                  <c:v>0.194</c:v>
                </c:pt>
                <c:pt idx="6">
                  <c:v>0.2239</c:v>
                </c:pt>
                <c:pt idx="7">
                  <c:v>0.2537</c:v>
                </c:pt>
                <c:pt idx="8">
                  <c:v>0.2836</c:v>
                </c:pt>
                <c:pt idx="9">
                  <c:v>0.2985</c:v>
                </c:pt>
                <c:pt idx="10">
                  <c:v>0.3284</c:v>
                </c:pt>
                <c:pt idx="11">
                  <c:v>0.3582</c:v>
                </c:pt>
                <c:pt idx="12">
                  <c:v>0.3881</c:v>
                </c:pt>
                <c:pt idx="13">
                  <c:v>0.4179</c:v>
                </c:pt>
                <c:pt idx="14">
                  <c:v>0.4478</c:v>
                </c:pt>
                <c:pt idx="15">
                  <c:v>0.4627</c:v>
                </c:pt>
                <c:pt idx="16">
                  <c:v>0.4925</c:v>
                </c:pt>
                <c:pt idx="17">
                  <c:v>0.5224</c:v>
                </c:pt>
                <c:pt idx="18">
                  <c:v>0.5522</c:v>
                </c:pt>
                <c:pt idx="19">
                  <c:v>0.5821</c:v>
                </c:pt>
              </c:strCache>
            </c:strRef>
          </c:cat>
          <c:val>
            <c:numRef>
              <c:f>'datasetA-Chart4'!$B$4:$B$24</c:f>
              <c:numCache>
                <c:formatCode>General</c:formatCode>
                <c:ptCount val="20"/>
                <c:pt idx="0">
                  <c:v>3404</c:v>
                </c:pt>
                <c:pt idx="1">
                  <c:v>2478</c:v>
                </c:pt>
                <c:pt idx="2">
                  <c:v>2652</c:v>
                </c:pt>
                <c:pt idx="3">
                  <c:v>2493</c:v>
                </c:pt>
                <c:pt idx="4">
                  <c:v>3369</c:v>
                </c:pt>
                <c:pt idx="5">
                  <c:v>3027</c:v>
                </c:pt>
                <c:pt idx="6">
                  <c:v>2544</c:v>
                </c:pt>
                <c:pt idx="7">
                  <c:v>2783</c:v>
                </c:pt>
                <c:pt idx="8">
                  <c:v>2824</c:v>
                </c:pt>
                <c:pt idx="9">
                  <c:v>1698</c:v>
                </c:pt>
                <c:pt idx="10">
                  <c:v>2337</c:v>
                </c:pt>
                <c:pt idx="11">
                  <c:v>1251</c:v>
                </c:pt>
                <c:pt idx="12">
                  <c:v>868</c:v>
                </c:pt>
                <c:pt idx="13">
                  <c:v>459</c:v>
                </c:pt>
                <c:pt idx="14">
                  <c:v>670</c:v>
                </c:pt>
                <c:pt idx="15">
                  <c:v>404</c:v>
                </c:pt>
                <c:pt idx="16">
                  <c:v>95</c:v>
                </c:pt>
                <c:pt idx="17">
                  <c:v>267</c:v>
                </c:pt>
                <c:pt idx="18">
                  <c:v>69</c:v>
                </c:pt>
                <c:pt idx="19">
                  <c:v>206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3D-48EA-A8E2-B38C35BD16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449013461"/>
        <c:axId val="733530383"/>
      </c:barChart>
      <c:catAx>
        <c:axId val="44901346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3530383"/>
        <c:crosses val="autoZero"/>
        <c:auto val="1"/>
        <c:lblAlgn val="ctr"/>
        <c:lblOffset val="100"/>
        <c:noMultiLvlLbl val="0"/>
      </c:catAx>
      <c:valAx>
        <c:axId val="733530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901346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dee28d6-2b2f-471a-b9d1-8f799ba9d5ad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[MAIN PROJECT FILE.xlsx]finaldataset-chart1!PivotTable8</c:name>
    <c:fmtId val="8"/>
  </c:pivotSource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800" b="0" i="0" u="none" strike="noStrike" kern="1200" baseline="0">
                <a:solidFill>
                  <a:schemeClr val="lt1"/>
                </a:solidFill>
                <a:latin typeface="Agency FB" panose="020B0503020202020204" charset="0"/>
                <a:ea typeface="Agency FB" panose="020B0503020202020204" charset="0"/>
                <a:cs typeface="Agency FB" panose="020B0503020202020204" charset="0"/>
                <a:sym typeface="Agency FB" panose="020B0503020202020204" charset="0"/>
              </a:defRPr>
            </a:pPr>
            <a:r>
              <a:rPr lang="en-US" altLang="en-IN" sz="1800" b="0">
                <a:solidFill>
                  <a:schemeClr val="lt1"/>
                </a:solidFill>
                <a:latin typeface="Agency FB" panose="020B0503020202020204" charset="0"/>
                <a:ea typeface="Agency FB" panose="020B0503020202020204" charset="0"/>
                <a:cs typeface="Agency FB" panose="020B0503020202020204" charset="0"/>
                <a:sym typeface="Agency FB" panose="020B0503020202020204" charset="0"/>
              </a:rPr>
              <a:t>Weather vs Count</a:t>
            </a:r>
          </a:p>
        </c:rich>
      </c:tx>
      <c:layout/>
      <c:overlay val="0"/>
      <c:spPr>
        <a:solidFill>
          <a:srgbClr val="ED7D31"/>
        </a:solidFill>
        <a:ln>
          <a:noFill/>
        </a:ln>
        <a:effectLst/>
        <a:sp3d>
          <a:extrusionClr>
            <a:srgbClr val="FFFFFF"/>
          </a:extrusionClr>
          <a:contourClr>
            <a:srgbClr val="FFFFFF"/>
          </a:contourClr>
        </a:sp3d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800" b="0" i="0" u="none" strike="noStrike" kern="1200" baseline="0">
              <a:solidFill>
                <a:schemeClr val="lt1"/>
              </a:solidFill>
              <a:latin typeface="Agency FB" panose="020B0503020202020204" charset="0"/>
              <a:ea typeface="Agency FB" panose="020B0503020202020204" charset="0"/>
              <a:cs typeface="Agency FB" panose="020B0503020202020204" charset="0"/>
              <a:sym typeface="Agency FB" panose="020B050302020202020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lIns="38100" tIns="19050" rIns="38100" bIns="19050" anchor="ctr" anchorCtr="1" forceAA="0"/>
            <a:lstStyle/>
            <a:p>
              <a:pPr>
                <a:defRPr lang="zh-CN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  <a:sym typeface="Microsoft YaHei" panose="020B0503020204020204" pitchFamily="34" charset="-122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lIns="38100" tIns="19050" rIns="38100" bIns="19050" anchor="ctr" anchorCtr="1" forceAA="0"/>
            <a:lstStyle/>
            <a:p>
              <a:pPr>
                <a:defRPr lang="zh-CN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  <a:sym typeface="Microsoft YaHei" panose="020B0503020204020204" pitchFamily="34" charset="-122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lIns="38100" tIns="19050" rIns="38100" bIns="19050" anchor="ctr" anchorCtr="1" forceAA="0"/>
            <a:lstStyle/>
            <a:p>
              <a:pPr>
                <a:defRPr lang="zh-CN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  <a:sym typeface="Microsoft YaHei" panose="020B0503020204020204" pitchFamily="34" charset="-122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lIns="38100" tIns="19050" rIns="38100" bIns="19050" anchor="ctr" anchorCtr="1" forceAA="0"/>
            <a:lstStyle/>
            <a:p>
              <a:pPr>
                <a:defRPr lang="zh-CN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  <a:sym typeface="Microsoft YaHei" panose="020B0503020204020204" pitchFamily="34" charset="-122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lIns="38100" tIns="19050" rIns="38100" bIns="19050" anchor="ctr" anchorCtr="1" forceAA="0"/>
            <a:lstStyle/>
            <a:p>
              <a:pPr>
                <a:defRPr lang="zh-CN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  <a:sym typeface="Microsoft YaHei" panose="020B0503020204020204" pitchFamily="34" charset="-122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lIns="38100" tIns="19050" rIns="38100" bIns="19050" anchor="ctr" anchorCtr="1" forceAA="0"/>
            <a:lstStyle/>
            <a:p>
              <a:pPr>
                <a:defRPr lang="zh-CN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  <a:sym typeface="Microsoft YaHei" panose="020B0503020204020204" pitchFamily="34" charset="-122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'finaldataset-chart1'!$B$3</c:f>
              <c:strCache>
                <c:ptCount val="1"/>
                <c:pt idx="0">
                  <c:v>Sum of Registered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anose="020B0503020204020204" pitchFamily="34" charset="-122"/>
                    <a:sym typeface="Microsoft YaHei" panose="020B0503020204020204" pitchFamily="3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'finaldataset-chart1'!$A$4:$A$6</c:f>
              <c:strCache>
                <c:ptCount val="2"/>
                <c:pt idx="0">
                  <c:v>Cloudy</c:v>
                </c:pt>
                <c:pt idx="1">
                  <c:v>Fog</c:v>
                </c:pt>
              </c:strCache>
            </c:strRef>
          </c:cat>
          <c:val>
            <c:numRef>
              <c:f>'finaldataset-chart1'!$B$4:$B$6</c:f>
              <c:numCache>
                <c:formatCode>General</c:formatCode>
                <c:ptCount val="2"/>
                <c:pt idx="0">
                  <c:v>41</c:v>
                </c:pt>
                <c:pt idx="1">
                  <c:v>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EE-4D59-990B-4CF8A31548E0}"/>
            </c:ext>
          </c:extLst>
        </c:ser>
        <c:ser>
          <c:idx val="1"/>
          <c:order val="1"/>
          <c:tx>
            <c:strRef>
              <c:f>'finaldataset-chart1'!$C$3</c:f>
              <c:strCache>
                <c:ptCount val="1"/>
                <c:pt idx="0">
                  <c:v>Sum of T.Count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anose="020B0503020204020204" pitchFamily="34" charset="-122"/>
                    <a:sym typeface="Microsoft YaHei" panose="020B0503020204020204" pitchFamily="3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'finaldataset-chart1'!$A$4:$A$6</c:f>
              <c:strCache>
                <c:ptCount val="2"/>
                <c:pt idx="0">
                  <c:v>Cloudy</c:v>
                </c:pt>
                <c:pt idx="1">
                  <c:v>Fog</c:v>
                </c:pt>
              </c:strCache>
            </c:strRef>
          </c:cat>
          <c:val>
            <c:numRef>
              <c:f>'finaldataset-chart1'!$C$4:$C$6</c:f>
              <c:numCache>
                <c:formatCode>General</c:formatCode>
                <c:ptCount val="2"/>
                <c:pt idx="0">
                  <c:v>42</c:v>
                </c:pt>
                <c:pt idx="1">
                  <c:v>117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EE-4D59-990B-4CF8A31548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60"/>
        <c:overlap val="-32"/>
        <c:axId val="892277699"/>
        <c:axId val="971334958"/>
      </c:barChart>
      <c:catAx>
        <c:axId val="8922776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accent1"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Microsoft YaHei" panose="020B0503020204020204" pitchFamily="34" charset="-122"/>
              </a:defRPr>
            </a:pPr>
            <a:endParaRPr lang="en-US"/>
          </a:p>
        </c:txPr>
        <c:crossAx val="971334958"/>
        <c:crosses val="autoZero"/>
        <c:auto val="1"/>
        <c:lblAlgn val="ctr"/>
        <c:lblOffset val="100"/>
        <c:noMultiLvlLbl val="0"/>
      </c:catAx>
      <c:valAx>
        <c:axId val="971334958"/>
        <c:scaling>
          <c:orientation val="minMax"/>
        </c:scaling>
        <c:delete val="1"/>
        <c:axPos val="l"/>
        <c:majorGridlines>
          <c:spPr>
            <a:ln w="6350" cap="flat" cmpd="sng" algn="ctr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8922776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  <a:sym typeface="Microsoft YaHei" panose="020B0503020204020204" pitchFamily="34" charset="-122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f1916b2-84e8-4051-8b38-4d71e1b09f6a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round/>
    </a:ln>
    <a:effectLst/>
  </c:spPr>
  <c:txPr>
    <a:bodyPr/>
    <a:lstStyle/>
    <a:p>
      <a:pPr>
        <a:defRPr lang="zh-CN" sz="900">
          <a:solidFill>
            <a:schemeClr val="tx1">
              <a:lumMod val="75000"/>
              <a:lumOff val="2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Microsoft YaHei" panose="020B0503020204020204" pitchFamily="34" charset="-122"/>
          <a:sym typeface="Microsoft YaHei" panose="020B0503020204020204" pitchFamily="34" charset="-122"/>
        </a:defRPr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[MAIN PROJECT FILE.xlsx]finaldataset-chart2!PivotTable9</c:name>
    <c:fmtId val="8"/>
  </c:pivotSource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sz="1600" b="0" i="0" u="none" strike="noStrike" kern="1200" baseline="0">
                <a:solidFill>
                  <a:srgbClr val="C00000"/>
                </a:solidFill>
                <a:latin typeface="Lucida Sans Unicode" panose="020B0602030504020204" charset="0"/>
                <a:ea typeface="Lucida Sans Unicode" panose="020B0602030504020204" charset="0"/>
                <a:cs typeface="Lucida Sans Unicode" panose="020B0602030504020204" charset="0"/>
                <a:sym typeface="Lucida Sans Unicode" panose="020B0602030504020204" charset="0"/>
              </a:defRPr>
            </a:pPr>
            <a:r>
              <a:rPr lang="en-US" altLang="zh-CN" sz="1600" b="1">
                <a:solidFill>
                  <a:srgbClr val="C00000"/>
                </a:solidFill>
                <a:latin typeface="Lucida Sans Unicode" panose="020B0602030504020204" charset="0"/>
                <a:ea typeface="Lucida Sans Unicode" panose="020B0602030504020204" charset="0"/>
                <a:cs typeface="Lucida Sans Unicode" panose="020B0602030504020204" charset="0"/>
                <a:sym typeface="Lucida Sans Unicode" panose="020B0602030504020204" charset="0"/>
              </a:rPr>
              <a:t>Weekday vs Count</a:t>
            </a:r>
          </a:p>
        </c:rich>
      </c:tx>
      <c:layout/>
      <c:overlay val="0"/>
      <c:spPr>
        <a:solidFill>
          <a:srgbClr val="FFC000"/>
        </a:solidFill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1600" b="0" i="0" u="none" strike="noStrike" kern="1200" baseline="0">
              <a:solidFill>
                <a:srgbClr val="C00000"/>
              </a:solidFill>
              <a:latin typeface="Lucida Sans Unicode" panose="020B0602030504020204" charset="0"/>
              <a:ea typeface="Lucida Sans Unicode" panose="020B0602030504020204" charset="0"/>
              <a:cs typeface="Lucida Sans Unicode" panose="020B0602030504020204" charset="0"/>
              <a:sym typeface="Lucida Sans Unicode" panose="020B060203050402020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FFC000"/>
          </a:solidFill>
          <a:ln>
            <a:solidFill>
              <a:schemeClr val="bg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lIns="38100" tIns="19050" rIns="38100" bIns="19050" anchor="ctr" anchorCtr="1" forceAA="0"/>
            <a:lstStyle/>
            <a:p>
              <a:pPr>
                <a:defRPr lang="zh-CN"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  <a:sym typeface="Microsoft YaHei" panose="020B0503020204020204" pitchFamily="34" charset="-122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C000"/>
          </a:solidFill>
          <a:ln>
            <a:solidFill>
              <a:schemeClr val="bg1"/>
            </a:solidFill>
          </a:ln>
          <a:effectLst/>
        </c:spPr>
      </c:pivotFmt>
      <c:pivotFmt>
        <c:idx val="2"/>
        <c:spPr>
          <a:solidFill>
            <a:srgbClr val="FF0000"/>
          </a:solidFill>
          <a:ln>
            <a:solidFill>
              <a:schemeClr val="bg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lIns="38100" tIns="19050" rIns="38100" bIns="19050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  <a:sym typeface="Microsoft YaHei" panose="020B0503020204020204" pitchFamily="34" charset="-122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FF0000"/>
          </a:solidFill>
          <a:ln>
            <a:solidFill>
              <a:schemeClr val="bg1"/>
            </a:solidFill>
          </a:ln>
          <a:effectLst/>
        </c:spPr>
      </c:pivotFmt>
      <c:pivotFmt>
        <c:idx val="4"/>
        <c:spPr>
          <a:solidFill>
            <a:srgbClr val="FFC000"/>
          </a:solidFill>
          <a:ln>
            <a:solidFill>
              <a:schemeClr val="bg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lIns="38100" tIns="19050" rIns="38100" bIns="19050" anchor="ctr" anchorCtr="1" forceAA="0"/>
            <a:lstStyle/>
            <a:p>
              <a:pPr>
                <a:defRPr lang="zh-CN"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  <a:sym typeface="Microsoft YaHei" panose="020B0503020204020204" pitchFamily="34" charset="-122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FFC000"/>
          </a:solidFill>
          <a:ln>
            <a:solidFill>
              <a:schemeClr val="bg1"/>
            </a:solidFill>
          </a:ln>
          <a:effectLst/>
        </c:spPr>
      </c:pivotFmt>
      <c:pivotFmt>
        <c:idx val="6"/>
        <c:spPr>
          <a:solidFill>
            <a:srgbClr val="FF0000"/>
          </a:solidFill>
          <a:ln>
            <a:solidFill>
              <a:schemeClr val="bg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lIns="38100" tIns="19050" rIns="38100" bIns="19050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  <a:sym typeface="Microsoft YaHei" panose="020B0503020204020204" pitchFamily="34" charset="-122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FF0000"/>
          </a:solidFill>
          <a:ln>
            <a:solidFill>
              <a:schemeClr val="bg1"/>
            </a:solidFill>
          </a:ln>
          <a:effectLst/>
        </c:spPr>
      </c:pivotFmt>
      <c:pivotFmt>
        <c:idx val="8"/>
        <c:spPr>
          <a:solidFill>
            <a:srgbClr val="FFC000"/>
          </a:solidFill>
          <a:ln>
            <a:solidFill>
              <a:schemeClr val="bg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lIns="38100" tIns="19050" rIns="38100" bIns="19050" anchor="ctr" anchorCtr="1" forceAA="0"/>
            <a:lstStyle/>
            <a:p>
              <a:pPr>
                <a:defRPr lang="zh-CN"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  <a:sym typeface="Microsoft YaHei" panose="020B0503020204020204" pitchFamily="34" charset="-122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FFC000"/>
          </a:solidFill>
          <a:ln>
            <a:solidFill>
              <a:schemeClr val="bg1"/>
            </a:solidFill>
          </a:ln>
          <a:effectLst/>
        </c:spPr>
      </c:pivotFmt>
      <c:pivotFmt>
        <c:idx val="10"/>
        <c:spPr>
          <a:solidFill>
            <a:srgbClr val="FF0000"/>
          </a:solidFill>
          <a:ln>
            <a:solidFill>
              <a:schemeClr val="bg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lIns="38100" tIns="19050" rIns="38100" bIns="19050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 panose="020B0503020204020204" pitchFamily="34" charset="-122"/>
                  <a:sym typeface="Microsoft YaHei" panose="020B0503020204020204" pitchFamily="34" charset="-122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FF0000"/>
          </a:solidFill>
          <a:ln>
            <a:solidFill>
              <a:schemeClr val="bg1"/>
            </a:solidFill>
          </a:ln>
          <a:effectLst/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'finaldataset-chart2'!$B$3</c:f>
              <c:strCache>
                <c:ptCount val="1"/>
                <c:pt idx="0">
                  <c:v>Sum of T.Count</c:v>
                </c:pt>
              </c:strCache>
            </c:strRef>
          </c:tx>
          <c:spPr>
            <a:solidFill>
              <a:srgbClr val="FFC000"/>
            </a:solidFill>
          </c:spPr>
          <c:dPt>
            <c:idx val="0"/>
            <c:bubble3D val="0"/>
            <c:spPr>
              <a:solidFill>
                <a:srgbClr val="FFC000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ED8-4AE9-A79C-6CA0E1657FAD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anose="020B0503020204020204" pitchFamily="34" charset="-122"/>
                    <a:sym typeface="Microsoft YaHei" panose="020B0503020204020204" pitchFamily="34" charset="-122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'finaldataset-chart2'!$A$4:$A$6</c:f>
              <c:strCache>
                <c:ptCount val="2"/>
                <c:pt idx="0">
                  <c:v> weekend</c:v>
                </c:pt>
                <c:pt idx="1">
                  <c:v>weekday</c:v>
                </c:pt>
              </c:strCache>
            </c:strRef>
          </c:cat>
          <c:val>
            <c:numRef>
              <c:f>'finaldataset-chart2'!$B$4:$B$6</c:f>
              <c:numCache>
                <c:formatCode>General</c:formatCode>
                <c:ptCount val="2"/>
                <c:pt idx="0">
                  <c:v>56</c:v>
                </c:pt>
                <c:pt idx="1">
                  <c:v>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ED8-4AE9-A79C-6CA0E1657FAD}"/>
            </c:ext>
          </c:extLst>
        </c:ser>
        <c:ser>
          <c:idx val="1"/>
          <c:order val="1"/>
          <c:tx>
            <c:strRef>
              <c:f>'finaldataset-chart2'!$C$3</c:f>
              <c:strCache>
                <c:ptCount val="1"/>
                <c:pt idx="0">
                  <c:v>Sum of Registered</c:v>
                </c:pt>
              </c:strCache>
            </c:strRef>
          </c:tx>
          <c:spPr>
            <a:solidFill>
              <a:srgbClr val="FF0000"/>
            </a:solidFill>
          </c:spPr>
          <c:dPt>
            <c:idx val="0"/>
            <c:bubble3D val="0"/>
            <c:spPr>
              <a:solidFill>
                <a:srgbClr val="FF0000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8ED8-4AE9-A79C-6CA0E1657FAD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Microsoft YaHei" panose="020B0503020204020204" pitchFamily="34" charset="-122"/>
                    <a:sym typeface="Microsoft YaHei" panose="020B0503020204020204" pitchFamily="34" charset="-122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'finaldataset-chart2'!$A$4:$A$6</c:f>
              <c:strCache>
                <c:ptCount val="2"/>
                <c:pt idx="0">
                  <c:v> weekend</c:v>
                </c:pt>
                <c:pt idx="1">
                  <c:v>weekday</c:v>
                </c:pt>
              </c:strCache>
            </c:strRef>
          </c:cat>
          <c:val>
            <c:numRef>
              <c:f>'finaldataset-chart2'!$C$4:$C$6</c:f>
              <c:numCache>
                <c:formatCode>General</c:formatCode>
                <c:ptCount val="2"/>
                <c:pt idx="0">
                  <c:v>52</c:v>
                </c:pt>
                <c:pt idx="1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ED8-4AE9-A79C-6CA0E1657F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Microsoft YaHei" panose="020B0503020204020204" pitchFamily="34" charset="-122"/>
              </a:defRPr>
            </a:pPr>
            <a:endParaRPr lang="en-US"/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10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  <a:sym typeface="Microsoft YaHei" panose="020B0503020204020204" pitchFamily="34" charset="-122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29be8a7-557d-4c82-9f25-e9aa9bd7d793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round/>
    </a:ln>
    <a:effectLst/>
  </c:spPr>
  <c:txPr>
    <a:bodyPr/>
    <a:lstStyle/>
    <a:p>
      <a:pPr>
        <a:defRPr lang="zh-CN" sz="1000">
          <a:solidFill>
            <a:schemeClr val="tx1">
              <a:lumMod val="75000"/>
              <a:lumOff val="2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Microsoft YaHei" panose="020B0503020204020204" pitchFamily="34" charset="-122"/>
          <a:sym typeface="Microsoft YaHei" panose="020B0503020204020204" pitchFamily="34" charset="-122"/>
        </a:defRPr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[MAIN PROJECT FILE.xlsx]finaldataset-chart3!PivotTable10</c:name>
    <c:fmtId val="8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Temp vs Count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'finaldataset-chart3'!$B$3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'finaldataset-chart3'!$A$4:$A$16</c:f>
              <c:strCache>
                <c:ptCount val="12"/>
                <c:pt idx="0">
                  <c:v>0.02</c:v>
                </c:pt>
                <c:pt idx="1">
                  <c:v>0.04</c:v>
                </c:pt>
                <c:pt idx="2">
                  <c:v>0.14</c:v>
                </c:pt>
                <c:pt idx="3">
                  <c:v>0.16</c:v>
                </c:pt>
                <c:pt idx="4">
                  <c:v>0.18</c:v>
                </c:pt>
                <c:pt idx="5">
                  <c:v>0.2</c:v>
                </c:pt>
                <c:pt idx="6">
                  <c:v>0.22</c:v>
                </c:pt>
                <c:pt idx="7">
                  <c:v>0.24</c:v>
                </c:pt>
                <c:pt idx="8">
                  <c:v>0.26</c:v>
                </c:pt>
                <c:pt idx="9">
                  <c:v>0.28</c:v>
                </c:pt>
                <c:pt idx="10">
                  <c:v>0.4</c:v>
                </c:pt>
                <c:pt idx="11">
                  <c:v>0.46</c:v>
                </c:pt>
              </c:strCache>
            </c:strRef>
          </c:cat>
          <c:val>
            <c:numRef>
              <c:f>'finaldataset-chart3'!$B$4:$B$16</c:f>
              <c:numCache>
                <c:formatCode>General</c:formatCode>
                <c:ptCount val="12"/>
                <c:pt idx="0">
                  <c:v>3</c:v>
                </c:pt>
                <c:pt idx="1">
                  <c:v>22</c:v>
                </c:pt>
                <c:pt idx="2">
                  <c:v>23</c:v>
                </c:pt>
                <c:pt idx="3">
                  <c:v>21</c:v>
                </c:pt>
                <c:pt idx="4">
                  <c:v>12</c:v>
                </c:pt>
                <c:pt idx="5">
                  <c:v>17</c:v>
                </c:pt>
                <c:pt idx="6">
                  <c:v>33</c:v>
                </c:pt>
                <c:pt idx="7">
                  <c:v>22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BA-4AE5-B628-0F875CBD0F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964185274"/>
        <c:axId val="403648114"/>
      </c:barChart>
      <c:catAx>
        <c:axId val="96418527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3648114"/>
        <c:crosses val="autoZero"/>
        <c:auto val="1"/>
        <c:lblAlgn val="ctr"/>
        <c:lblOffset val="100"/>
        <c:noMultiLvlLbl val="0"/>
      </c:catAx>
      <c:valAx>
        <c:axId val="40364811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418527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8ee9db4-188f-44e1-ae4c-676a2fb00aab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[MAIN PROJECT FILE.xlsx]finaldataset-chart4!PivotTable11</c:name>
    <c:fmtId val="10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'finaldataset-chart4'!$B$3</c:f>
              <c:strCache>
                <c:ptCount val="1"/>
                <c:pt idx="0">
                  <c:v>Sum of Registered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'finaldataset-chart4'!$A$4:$A$15</c:f>
              <c:strCache>
                <c:ptCount val="11"/>
                <c:pt idx="0">
                  <c:v>0</c:v>
                </c:pt>
                <c:pt idx="1">
                  <c:v>0.0896</c:v>
                </c:pt>
                <c:pt idx="2">
                  <c:v>0.1045</c:v>
                </c:pt>
                <c:pt idx="3">
                  <c:v>0.1343</c:v>
                </c:pt>
                <c:pt idx="4">
                  <c:v>0.1642</c:v>
                </c:pt>
                <c:pt idx="5">
                  <c:v>0.194</c:v>
                </c:pt>
                <c:pt idx="6">
                  <c:v>0.2239</c:v>
                </c:pt>
                <c:pt idx="7">
                  <c:v>0.2537</c:v>
                </c:pt>
                <c:pt idx="8">
                  <c:v>0.2836</c:v>
                </c:pt>
                <c:pt idx="9">
                  <c:v>0.2985</c:v>
                </c:pt>
                <c:pt idx="10">
                  <c:v>0.3284</c:v>
                </c:pt>
              </c:strCache>
            </c:strRef>
          </c:cat>
          <c:val>
            <c:numRef>
              <c:f>'finaldataset-chart4'!$B$4:$B$15</c:f>
              <c:numCache>
                <c:formatCode>General</c:formatCode>
                <c:ptCount val="11"/>
                <c:pt idx="0">
                  <c:v>16</c:v>
                </c:pt>
                <c:pt idx="1">
                  <c:v>17</c:v>
                </c:pt>
                <c:pt idx="2">
                  <c:v>12</c:v>
                </c:pt>
                <c:pt idx="3">
                  <c:v>32</c:v>
                </c:pt>
                <c:pt idx="4">
                  <c:v>21</c:v>
                </c:pt>
                <c:pt idx="5">
                  <c:v>8</c:v>
                </c:pt>
                <c:pt idx="6">
                  <c:v>13</c:v>
                </c:pt>
                <c:pt idx="7">
                  <c:v>11</c:v>
                </c:pt>
                <c:pt idx="8">
                  <c:v>8</c:v>
                </c:pt>
                <c:pt idx="9">
                  <c:v>7</c:v>
                </c:pt>
                <c:pt idx="1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39-4961-A0FF-388A2C3842DC}"/>
            </c:ext>
          </c:extLst>
        </c:ser>
        <c:ser>
          <c:idx val="1"/>
          <c:order val="1"/>
          <c:tx>
            <c:strRef>
              <c:f>'finaldataset-chart4'!$C$3</c:f>
              <c:strCache>
                <c:ptCount val="1"/>
                <c:pt idx="0">
                  <c:v>Sum of T.Count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'finaldataset-chart4'!$A$4:$A$15</c:f>
              <c:strCache>
                <c:ptCount val="11"/>
                <c:pt idx="0">
                  <c:v>0</c:v>
                </c:pt>
                <c:pt idx="1">
                  <c:v>0.0896</c:v>
                </c:pt>
                <c:pt idx="2">
                  <c:v>0.1045</c:v>
                </c:pt>
                <c:pt idx="3">
                  <c:v>0.1343</c:v>
                </c:pt>
                <c:pt idx="4">
                  <c:v>0.1642</c:v>
                </c:pt>
                <c:pt idx="5">
                  <c:v>0.194</c:v>
                </c:pt>
                <c:pt idx="6">
                  <c:v>0.2239</c:v>
                </c:pt>
                <c:pt idx="7">
                  <c:v>0.2537</c:v>
                </c:pt>
                <c:pt idx="8">
                  <c:v>0.2836</c:v>
                </c:pt>
                <c:pt idx="9">
                  <c:v>0.2985</c:v>
                </c:pt>
                <c:pt idx="10">
                  <c:v>0.3284</c:v>
                </c:pt>
              </c:strCache>
            </c:strRef>
          </c:cat>
          <c:val>
            <c:numRef>
              <c:f>'finaldataset-chart4'!$C$4:$C$15</c:f>
              <c:numCache>
                <c:formatCode>General</c:formatCode>
                <c:ptCount val="11"/>
                <c:pt idx="0">
                  <c:v>16</c:v>
                </c:pt>
                <c:pt idx="1">
                  <c:v>17</c:v>
                </c:pt>
                <c:pt idx="2">
                  <c:v>13</c:v>
                </c:pt>
                <c:pt idx="3">
                  <c:v>35</c:v>
                </c:pt>
                <c:pt idx="4">
                  <c:v>22</c:v>
                </c:pt>
                <c:pt idx="5">
                  <c:v>10</c:v>
                </c:pt>
                <c:pt idx="6">
                  <c:v>16</c:v>
                </c:pt>
                <c:pt idx="7">
                  <c:v>11</c:v>
                </c:pt>
                <c:pt idx="8">
                  <c:v>9</c:v>
                </c:pt>
                <c:pt idx="9">
                  <c:v>7</c:v>
                </c:pt>
                <c:pt idx="1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39-4961-A0FF-388A2C3842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571545027"/>
        <c:axId val="750881740"/>
      </c:barChart>
      <c:catAx>
        <c:axId val="571545027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0881740"/>
        <c:crosses val="autoZero"/>
        <c:auto val="1"/>
        <c:lblAlgn val="ctr"/>
        <c:lblOffset val="100"/>
        <c:noMultiLvlLbl val="0"/>
      </c:catAx>
      <c:valAx>
        <c:axId val="7508817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15450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e9f76eb-3188-4482-9124-d50d1b176499}"/>
      </c:ext>
    </c:extLst>
  </c:chart>
  <c:spPr>
    <a:noFill/>
    <a:ln>
      <a:noFill/>
    </a:ln>
    <a:effectLst/>
  </c:spPr>
  <c:txPr>
    <a:bodyPr/>
    <a:lstStyle/>
    <a:p>
      <a:pPr>
        <a:defRPr lang="en-US">
          <a:ln>
            <a:noFill/>
          </a:ln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A76DDF7-4C48-48AC-815A-90323ECDDCC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4DD9EAC-E16F-4F63-9F93-0AA75355C2F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633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DDF7-4C48-48AC-815A-90323ECDDCC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9EAC-E16F-4F63-9F93-0AA75355C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306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DDF7-4C48-48AC-815A-90323ECDDCC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9EAC-E16F-4F63-9F93-0AA75355C2F7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976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DDF7-4C48-48AC-815A-90323ECDDCC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9EAC-E16F-4F63-9F93-0AA75355C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735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DDF7-4C48-48AC-815A-90323ECDDCC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9EAC-E16F-4F63-9F93-0AA75355C2F7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850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DDF7-4C48-48AC-815A-90323ECDDCC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9EAC-E16F-4F63-9F93-0AA75355C2F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63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DDF7-4C48-48AC-815A-90323ECDDCC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9EAC-E16F-4F63-9F93-0AA75355C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736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DDF7-4C48-48AC-815A-90323ECDDCC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9EAC-E16F-4F63-9F93-0AA75355C2F7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906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DDF7-4C48-48AC-815A-90323ECDDCC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9EAC-E16F-4F63-9F93-0AA75355C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001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DDF7-4C48-48AC-815A-90323ECDDCC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9EAC-E16F-4F63-9F93-0AA75355C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483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DDF7-4C48-48AC-815A-90323ECDDCC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9EAC-E16F-4F63-9F93-0AA75355C2F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457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DDF7-4C48-48AC-815A-90323ECDDCC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9EAC-E16F-4F63-9F93-0AA75355C2F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1588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DDF7-4C48-48AC-815A-90323ECDDCC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9EAC-E16F-4F63-9F93-0AA75355C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817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DDF7-4C48-48AC-815A-90323ECDDCC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9EAC-E16F-4F63-9F93-0AA75355C2F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397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DDF7-4C48-48AC-815A-90323ECDDCC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9EAC-E16F-4F63-9F93-0AA75355C2F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104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DDF7-4C48-48AC-815A-90323ECDDCC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9EAC-E16F-4F63-9F93-0AA75355C2F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5214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DDF7-4C48-48AC-815A-90323ECDDCC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D9EAC-E16F-4F63-9F93-0AA75355C2F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141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A76DDF7-4C48-48AC-815A-90323ECDDCC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4DD9EAC-E16F-4F63-9F93-0AA75355C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63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Bike </a:t>
            </a:r>
            <a:r>
              <a:rPr lang="en-IN" b="1" dirty="0"/>
              <a:t>Sharing Demand Analysis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pPr algn="r"/>
            <a:r>
              <a:rPr lang="en-US" sz="2800" dirty="0" smtClean="0"/>
              <a:t>Submitted by </a:t>
            </a:r>
            <a:r>
              <a:rPr lang="en-US" sz="2800" dirty="0" err="1" smtClean="0"/>
              <a:t>Iram</a:t>
            </a:r>
            <a:r>
              <a:rPr lang="en-US" sz="2800" dirty="0" smtClean="0"/>
              <a:t> </a:t>
            </a:r>
            <a:r>
              <a:rPr lang="en-US" sz="2800" dirty="0" err="1" smtClean="0"/>
              <a:t>Shafi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6123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Problem Statement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Analyze </a:t>
            </a:r>
            <a:r>
              <a:rPr lang="en-US" dirty="0"/>
              <a:t>bike rental </a:t>
            </a:r>
            <a:r>
              <a:rPr lang="en-US" dirty="0" smtClean="0"/>
              <a:t>data.</a:t>
            </a:r>
            <a:endParaRPr lang="en-US" dirty="0"/>
          </a:p>
          <a:p>
            <a:r>
              <a:rPr lang="en-US" dirty="0"/>
              <a:t>Study impact of weather &amp; </a:t>
            </a:r>
            <a:r>
              <a:rPr lang="en-US" dirty="0" smtClean="0"/>
              <a:t>time.</a:t>
            </a:r>
          </a:p>
          <a:p>
            <a:r>
              <a:rPr lang="en-US" dirty="0" smtClean="0"/>
              <a:t>Improve decision-making.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303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Dataset Description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Multiple </a:t>
            </a:r>
            <a:r>
              <a:rPr lang="en-US" dirty="0"/>
              <a:t>datasets </a:t>
            </a:r>
            <a:r>
              <a:rPr lang="en-US" dirty="0" smtClean="0"/>
              <a:t>used. </a:t>
            </a:r>
            <a:endParaRPr lang="en-US" dirty="0"/>
          </a:p>
          <a:p>
            <a:r>
              <a:rPr lang="en-US" dirty="0"/>
              <a:t>Hourly &amp; daily data </a:t>
            </a:r>
            <a:endParaRPr lang="en-US" dirty="0" smtClean="0"/>
          </a:p>
          <a:p>
            <a:r>
              <a:rPr lang="en-US" dirty="0" smtClean="0"/>
              <a:t>Combined dataset 1 and dataset 2 and merged in dataset A, then combined dataset A with dataset 3 and finalized a last final dataset.</a:t>
            </a:r>
          </a:p>
          <a:p>
            <a:r>
              <a:rPr lang="en-US" dirty="0" smtClean="0"/>
              <a:t>Created different charts on dataset A and final dataset to show the data clearly.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1220957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Data Cleaning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(Used  </a:t>
            </a:r>
            <a:r>
              <a:rPr lang="en-US" dirty="0"/>
              <a:t>Excel sheets like DATASET1, </a:t>
            </a:r>
            <a:r>
              <a:rPr lang="en-US" dirty="0" smtClean="0"/>
              <a:t>DATASET2, DATASET A, DATASET 3, AND FINAL DATASET.)</a:t>
            </a:r>
            <a:endParaRPr lang="en-US" dirty="0"/>
          </a:p>
          <a:p>
            <a:r>
              <a:rPr lang="en-US" dirty="0"/>
              <a:t>Removed duplicates </a:t>
            </a:r>
            <a:r>
              <a:rPr lang="en-US" dirty="0" smtClean="0"/>
              <a:t>and corrected data types.</a:t>
            </a:r>
            <a:endParaRPr lang="en-US" dirty="0"/>
          </a:p>
          <a:p>
            <a:r>
              <a:rPr lang="en-US" dirty="0"/>
              <a:t>Handled missing values </a:t>
            </a:r>
            <a:endParaRPr lang="en-US" dirty="0" smtClean="0"/>
          </a:p>
          <a:p>
            <a:r>
              <a:rPr lang="en-US" dirty="0" smtClean="0"/>
              <a:t>Import </a:t>
            </a:r>
            <a:r>
              <a:rPr lang="en-US" dirty="0"/>
              <a:t>datasets and </a:t>
            </a:r>
            <a:r>
              <a:rPr lang="en-US" dirty="0" smtClean="0"/>
              <a:t>merged </a:t>
            </a:r>
            <a:r>
              <a:rPr lang="en-US" dirty="0"/>
              <a:t>on common keys (instant, </a:t>
            </a:r>
            <a:r>
              <a:rPr lang="en-US" dirty="0" smtClean="0"/>
              <a:t>date/day</a:t>
            </a:r>
            <a:r>
              <a:rPr lang="en-US" dirty="0"/>
              <a:t>, </a:t>
            </a:r>
            <a:r>
              <a:rPr lang="en-US" dirty="0" err="1"/>
              <a:t>hr</a:t>
            </a:r>
            <a:r>
              <a:rPr lang="en-US" dirty="0"/>
              <a:t>) via Power Query or </a:t>
            </a:r>
            <a:r>
              <a:rPr lang="en-US" dirty="0" smtClean="0"/>
              <a:t>by using formulas </a:t>
            </a:r>
            <a:r>
              <a:rPr lang="en-US" dirty="0"/>
              <a:t>(VLOOKUP/INDEX-MATCH).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095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Tools &amp; Functions Used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Excel </a:t>
            </a:r>
            <a:r>
              <a:rPr lang="en-US" dirty="0"/>
              <a:t>formulas (SUM, AVERAGE</a:t>
            </a:r>
            <a:r>
              <a:rPr lang="en-US" dirty="0" smtClean="0"/>
              <a:t>).</a:t>
            </a:r>
            <a:endParaRPr lang="en-US" dirty="0"/>
          </a:p>
          <a:p>
            <a:r>
              <a:rPr lang="en-US" dirty="0"/>
              <a:t>VLOOKUP / </a:t>
            </a:r>
            <a:r>
              <a:rPr lang="en-US" dirty="0" smtClean="0"/>
              <a:t>INDEX-MATCH.</a:t>
            </a:r>
            <a:endParaRPr lang="en-US" dirty="0"/>
          </a:p>
          <a:p>
            <a:r>
              <a:rPr lang="en-US" dirty="0"/>
              <a:t>Conditional </a:t>
            </a:r>
            <a:r>
              <a:rPr lang="en-US" dirty="0" smtClean="0"/>
              <a:t>formatting.</a:t>
            </a:r>
          </a:p>
          <a:p>
            <a:r>
              <a:rPr lang="en-US" dirty="0" smtClean="0"/>
              <a:t>Used </a:t>
            </a:r>
            <a:r>
              <a:rPr lang="en-US" dirty="0"/>
              <a:t>COUNTIF, SUMIF, STDEV, CORREL functions for </a:t>
            </a:r>
            <a:r>
              <a:rPr lang="en-US" dirty="0" smtClean="0"/>
              <a:t>statistics.</a:t>
            </a:r>
          </a:p>
          <a:p>
            <a:r>
              <a:rPr lang="en-US" dirty="0" smtClean="0"/>
              <a:t>Used </a:t>
            </a:r>
            <a:r>
              <a:rPr lang="en-US" dirty="0"/>
              <a:t>IF statements for conditional classification (e.g., weekend vs </a:t>
            </a:r>
            <a:r>
              <a:rPr lang="en-US" dirty="0" smtClean="0"/>
              <a:t>weekday, different weather situations). </a:t>
            </a:r>
            <a:endParaRPr lang="en-US" dirty="0"/>
          </a:p>
          <a:p>
            <a:r>
              <a:rPr lang="en-US" dirty="0"/>
              <a:t>● Apply VLOOKUP, INDEX, MATCH to link and extract data from </a:t>
            </a:r>
            <a:r>
              <a:rPr lang="en-US" dirty="0" smtClean="0"/>
              <a:t>tables.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2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Data Analysis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Used </a:t>
            </a:r>
            <a:r>
              <a:rPr lang="en-US" dirty="0"/>
              <a:t>KPI, </a:t>
            </a:r>
            <a:r>
              <a:rPr lang="en-US" dirty="0" smtClean="0"/>
              <a:t>and Statistical functions like CORRELATION  and STANDARD DEVIATION Sheets.</a:t>
            </a:r>
            <a:endParaRPr lang="en-US" dirty="0"/>
          </a:p>
          <a:p>
            <a:r>
              <a:rPr lang="en-US" dirty="0" smtClean="0"/>
              <a:t>Created </a:t>
            </a:r>
            <a:r>
              <a:rPr lang="en-US" dirty="0"/>
              <a:t>pivot tables and pivot charts to summarize user demand by time, weather, or user </a:t>
            </a:r>
            <a:r>
              <a:rPr lang="en-US" dirty="0" smtClean="0"/>
              <a:t>type.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382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set A – Chart 1 &amp; 2</a:t>
            </a:r>
            <a:endParaRPr lang="en-IN" dirty="0"/>
          </a:p>
        </p:txBody>
      </p:sp>
      <p:graphicFrame>
        <p:nvGraphicFramePr>
          <p:cNvPr id="5" name="Content Placeholder 4" descr="7b0a202020202263686172745265734964223a202234363130333534220a7d0a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4527854"/>
              </p:ext>
            </p:extLst>
          </p:nvPr>
        </p:nvGraphicFramePr>
        <p:xfrm>
          <a:off x="1298575" y="2560638"/>
          <a:ext cx="4718050" cy="33099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ontent Placeholder 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24550290"/>
              </p:ext>
            </p:extLst>
          </p:nvPr>
        </p:nvGraphicFramePr>
        <p:xfrm>
          <a:off x="6181725" y="2560638"/>
          <a:ext cx="4718050" cy="33099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63350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– Chart 3 &amp; 4</a:t>
            </a: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07471688"/>
              </p:ext>
            </p:extLst>
          </p:nvPr>
        </p:nvGraphicFramePr>
        <p:xfrm>
          <a:off x="1298575" y="2560638"/>
          <a:ext cx="4718050" cy="33099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ontent Placeholder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32376869"/>
              </p:ext>
            </p:extLst>
          </p:nvPr>
        </p:nvGraphicFramePr>
        <p:xfrm>
          <a:off x="6181725" y="2560638"/>
          <a:ext cx="4718050" cy="33099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02857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Dataset – Chart 1 &amp; 2</a:t>
            </a:r>
            <a:endParaRPr lang="en-IN" dirty="0"/>
          </a:p>
        </p:txBody>
      </p:sp>
      <p:graphicFrame>
        <p:nvGraphicFramePr>
          <p:cNvPr id="5" name="Content Placeholder 4" descr="7b0a202020202263686172745265734964223a202234363130333534220a7d0a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64834022"/>
              </p:ext>
            </p:extLst>
          </p:nvPr>
        </p:nvGraphicFramePr>
        <p:xfrm>
          <a:off x="1298575" y="2560638"/>
          <a:ext cx="4718050" cy="33099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ontent Placeholder 5" descr="7b0a202020202263686172745265734964223a20223230323931393734220a7d0a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67145883"/>
              </p:ext>
            </p:extLst>
          </p:nvPr>
        </p:nvGraphicFramePr>
        <p:xfrm>
          <a:off x="6181725" y="2560638"/>
          <a:ext cx="4718050" cy="33099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0472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Dataset – Chart </a:t>
            </a:r>
            <a:r>
              <a:rPr lang="en-US" dirty="0" smtClean="0"/>
              <a:t>3 </a:t>
            </a:r>
            <a:r>
              <a:rPr lang="en-US" dirty="0"/>
              <a:t>&amp; 4</a:t>
            </a: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80852126"/>
              </p:ext>
            </p:extLst>
          </p:nvPr>
        </p:nvGraphicFramePr>
        <p:xfrm>
          <a:off x="1298575" y="2560638"/>
          <a:ext cx="4718050" cy="33099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ontent Placeholder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24276118"/>
              </p:ext>
            </p:extLst>
          </p:nvPr>
        </p:nvGraphicFramePr>
        <p:xfrm>
          <a:off x="6181725" y="2560638"/>
          <a:ext cx="4718050" cy="33099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1744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Statistical Functions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CORRELATION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 smtClean="0"/>
              <a:t>(Temp</a:t>
            </a:r>
            <a:r>
              <a:rPr lang="en-IN" b="1" dirty="0"/>
              <a:t>, </a:t>
            </a:r>
            <a:r>
              <a:rPr lang="en-IN" b="1" dirty="0" err="1"/>
              <a:t>T.count</a:t>
            </a:r>
            <a:r>
              <a:rPr lang="en-IN" b="1" dirty="0"/>
              <a:t>)</a:t>
            </a:r>
            <a:r>
              <a:rPr lang="en-IN" dirty="0"/>
              <a:t> </a:t>
            </a:r>
            <a:r>
              <a:rPr lang="en-IN" b="1" dirty="0"/>
              <a:t>0.22929 </a:t>
            </a:r>
            <a:endParaRPr lang="en-IN" b="1" dirty="0"/>
          </a:p>
          <a:p>
            <a:r>
              <a:rPr lang="en-IN" b="1" dirty="0" smtClean="0"/>
              <a:t>(Hr</a:t>
            </a:r>
            <a:r>
              <a:rPr lang="en-IN" b="1" dirty="0"/>
              <a:t>, </a:t>
            </a:r>
            <a:r>
              <a:rPr lang="en-IN" b="1" dirty="0" err="1"/>
              <a:t>T.count</a:t>
            </a:r>
            <a:r>
              <a:rPr lang="en-IN" b="1" dirty="0"/>
              <a:t>)</a:t>
            </a:r>
            <a:r>
              <a:rPr lang="en-IN" dirty="0"/>
              <a:t> </a:t>
            </a:r>
            <a:r>
              <a:rPr lang="en-IN" b="1" dirty="0"/>
              <a:t>0.366047 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ST. DEVIATION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b="1" dirty="0" smtClean="0"/>
              <a:t>(Temp</a:t>
            </a:r>
            <a:r>
              <a:rPr lang="en-US" b="1" dirty="0"/>
              <a:t>, </a:t>
            </a:r>
            <a:r>
              <a:rPr lang="en-US" b="1" dirty="0" err="1"/>
              <a:t>T.count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b="1" dirty="0"/>
              <a:t>46.29672 </a:t>
            </a:r>
            <a:endParaRPr lang="en-US" b="1" dirty="0" smtClean="0"/>
          </a:p>
          <a:p>
            <a:r>
              <a:rPr lang="en-US" b="1" dirty="0" smtClean="0"/>
              <a:t>(</a:t>
            </a:r>
            <a:r>
              <a:rPr lang="en-US" b="1" dirty="0" err="1" smtClean="0"/>
              <a:t>Hr</a:t>
            </a:r>
            <a:r>
              <a:rPr lang="en-US" b="1" dirty="0"/>
              <a:t>, </a:t>
            </a:r>
            <a:r>
              <a:rPr lang="en-US" b="1" dirty="0" err="1"/>
              <a:t>T.count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b="1" dirty="0"/>
              <a:t>43.18472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3579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Dashboard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interactive dashboards combining multiple charts (line, bar, funnel, </a:t>
            </a:r>
            <a:r>
              <a:rPr lang="en-US" dirty="0" err="1"/>
              <a:t>heatmaps</a:t>
            </a:r>
            <a:r>
              <a:rPr lang="en-US" dirty="0" smtClean="0"/>
              <a:t>) in different datasets.</a:t>
            </a:r>
          </a:p>
          <a:p>
            <a:r>
              <a:rPr lang="en-US" dirty="0" smtClean="0"/>
              <a:t>Added KPI of total count, registered count &amp; casual count.</a:t>
            </a:r>
          </a:p>
          <a:p>
            <a:r>
              <a:rPr lang="en-US" dirty="0" smtClean="0"/>
              <a:t>Showed statistical functions value like Correlation and </a:t>
            </a:r>
            <a:r>
              <a:rPr lang="en-US" dirty="0" err="1" smtClean="0"/>
              <a:t>st.</a:t>
            </a:r>
            <a:r>
              <a:rPr lang="en-US" dirty="0" smtClean="0"/>
              <a:t> deviation of different sectors (</a:t>
            </a:r>
            <a:r>
              <a:rPr lang="en-US" dirty="0" err="1" smtClean="0"/>
              <a:t>e.g</a:t>
            </a:r>
            <a:r>
              <a:rPr lang="en-US" dirty="0" smtClean="0"/>
              <a:t>, </a:t>
            </a:r>
            <a:r>
              <a:rPr lang="en-US" dirty="0" err="1" smtClean="0"/>
              <a:t>hr</a:t>
            </a:r>
            <a:r>
              <a:rPr lang="en-US" dirty="0" smtClean="0"/>
              <a:t>, count, temp, humidity, </a:t>
            </a:r>
            <a:r>
              <a:rPr lang="en-US" dirty="0" err="1" smtClean="0"/>
              <a:t>windspeed</a:t>
            </a:r>
            <a:r>
              <a:rPr lang="en-US" dirty="0" smtClean="0"/>
              <a:t> etc.) </a:t>
            </a:r>
            <a:endParaRPr lang="en-US" dirty="0"/>
          </a:p>
          <a:p>
            <a:r>
              <a:rPr lang="en-US" dirty="0" smtClean="0"/>
              <a:t> Added slicers </a:t>
            </a:r>
            <a:r>
              <a:rPr lang="en-US" dirty="0"/>
              <a:t>and timelines for filtering dashboards </a:t>
            </a:r>
            <a:r>
              <a:rPr lang="en-US" dirty="0" smtClean="0"/>
              <a:t>dynamically.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634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 PROJECT FILE.xlsx - Excel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797"/>
            <a:ext cx="12192000" cy="646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207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 PROJECT FILE.xlsx - Excel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797"/>
            <a:ext cx="12192000" cy="646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060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Key </a:t>
            </a:r>
            <a:r>
              <a:rPr lang="en-US" b="1" dirty="0" smtClean="0"/>
              <a:t>Insights. (Main points)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Demand </a:t>
            </a:r>
            <a:r>
              <a:rPr lang="en-US" dirty="0"/>
              <a:t>depends on weather, time, and </a:t>
            </a:r>
            <a:r>
              <a:rPr lang="en-US" dirty="0" smtClean="0"/>
              <a:t>season</a:t>
            </a:r>
            <a:r>
              <a:rPr lang="en-US" dirty="0"/>
              <a:t> </a:t>
            </a:r>
            <a:r>
              <a:rPr lang="en-US" dirty="0" smtClean="0"/>
              <a:t>and changes with weather.</a:t>
            </a:r>
            <a:endParaRPr lang="en-US" dirty="0"/>
          </a:p>
          <a:p>
            <a:r>
              <a:rPr lang="en-US" dirty="0"/>
              <a:t>Peak use during commuting </a:t>
            </a:r>
            <a:r>
              <a:rPr lang="en-US" dirty="0" smtClean="0"/>
              <a:t>hours</a:t>
            </a:r>
            <a:r>
              <a:rPr lang="en-US" dirty="0"/>
              <a:t> </a:t>
            </a:r>
            <a:r>
              <a:rPr lang="en-US" dirty="0" smtClean="0"/>
              <a:t>identified.</a:t>
            </a:r>
            <a:endParaRPr lang="en-US" dirty="0"/>
          </a:p>
          <a:p>
            <a:r>
              <a:rPr lang="en-US" dirty="0"/>
              <a:t>Data helps predict and improve bike sharing systems</a:t>
            </a:r>
            <a:r>
              <a:rPr lang="en-US" dirty="0" smtClean="0"/>
              <a:t>.</a:t>
            </a:r>
          </a:p>
          <a:p>
            <a:r>
              <a:rPr lang="en-US" dirty="0"/>
              <a:t>User trends </a:t>
            </a:r>
            <a:r>
              <a:rPr lang="en-US" dirty="0" smtClean="0"/>
              <a:t>observed.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27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b="1" dirty="0" smtClean="0"/>
              <a:t>Conclusions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helped in gaining valuable knowledge and practical experience. </a:t>
            </a:r>
          </a:p>
          <a:p>
            <a:r>
              <a:rPr lang="en-US" dirty="0"/>
              <a:t>It demonstrates the significance of the topic and its real-life applications. </a:t>
            </a:r>
          </a:p>
          <a:p>
            <a:r>
              <a:rPr lang="en-US" dirty="0"/>
              <a:t>The objectives of the project were successfully completed.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15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Conclusions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600" dirty="0">
                <a:solidFill>
                  <a:schemeClr val="tx1"/>
                </a:solidFill>
              </a:rPr>
              <a:t>The analysis shows that </a:t>
            </a:r>
            <a:r>
              <a:rPr lang="en-US" altLang="en-US" sz="2600" b="1" dirty="0">
                <a:solidFill>
                  <a:schemeClr val="tx1"/>
                </a:solidFill>
              </a:rPr>
              <a:t>bike sharing demand is strongly influenced by </a:t>
            </a:r>
            <a:endParaRPr lang="en-US" altLang="en-US" sz="2600" b="1" dirty="0" smtClean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00" b="1" dirty="0" smtClean="0">
                <a:solidFill>
                  <a:schemeClr val="tx1"/>
                </a:solidFill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00" b="1" dirty="0" smtClean="0">
                <a:solidFill>
                  <a:schemeClr val="tx1"/>
                </a:solidFill>
              </a:rPr>
              <a:t>factors </a:t>
            </a:r>
            <a:r>
              <a:rPr lang="en-US" altLang="en-US" sz="2600" b="1" dirty="0">
                <a:solidFill>
                  <a:schemeClr val="tx1"/>
                </a:solidFill>
              </a:rPr>
              <a:t>such as </a:t>
            </a:r>
            <a:r>
              <a:rPr lang="en-US" altLang="en-US" sz="2600" b="1" dirty="0" smtClean="0">
                <a:solidFill>
                  <a:schemeClr val="tx1"/>
                </a:solidFill>
              </a:rPr>
              <a:t>weather, </a:t>
            </a:r>
            <a:r>
              <a:rPr lang="en-US" altLang="en-US" sz="2600" b="1" dirty="0">
                <a:solidFill>
                  <a:schemeClr val="tx1"/>
                </a:solidFill>
              </a:rPr>
              <a:t>season, time of day, and day type (working day vs </a:t>
            </a:r>
            <a:endParaRPr lang="en-US" altLang="en-US" sz="2600" b="1" dirty="0" smtClean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600" b="1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00" b="1" dirty="0" smtClean="0">
                <a:solidFill>
                  <a:schemeClr val="tx1"/>
                </a:solidFill>
              </a:rPr>
              <a:t>holiday</a:t>
            </a:r>
            <a:r>
              <a:rPr lang="en-US" altLang="en-US" sz="2600" b="1" dirty="0">
                <a:solidFill>
                  <a:schemeClr val="tx1"/>
                </a:solidFill>
              </a:rPr>
              <a:t>)</a:t>
            </a:r>
            <a:r>
              <a:rPr lang="en-US" altLang="en-US" sz="2600" dirty="0">
                <a:solidFill>
                  <a:schemeClr val="tx1"/>
                </a:solidFill>
              </a:rPr>
              <a:t>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600" dirty="0">
                <a:solidFill>
                  <a:schemeClr val="tx1"/>
                </a:solidFill>
              </a:rPr>
              <a:t>Demand is generally higher during </a:t>
            </a:r>
            <a:r>
              <a:rPr lang="en-US" altLang="en-US" sz="2600" b="1" dirty="0">
                <a:solidFill>
                  <a:schemeClr val="tx1"/>
                </a:solidFill>
              </a:rPr>
              <a:t>pleasant weather conditions</a:t>
            </a:r>
            <a:r>
              <a:rPr lang="en-US" altLang="en-US" sz="2600" dirty="0">
                <a:solidFill>
                  <a:schemeClr val="tx1"/>
                </a:solidFill>
              </a:rPr>
              <a:t> and lower </a:t>
            </a:r>
            <a:r>
              <a:rPr lang="en-US" altLang="en-US" sz="2600" dirty="0" smtClean="0">
                <a:solidFill>
                  <a:schemeClr val="tx1"/>
                </a:solidFill>
              </a:rPr>
              <a:t>during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6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00" dirty="0" smtClean="0">
                <a:solidFill>
                  <a:schemeClr val="tx1"/>
                </a:solidFill>
              </a:rPr>
              <a:t> </a:t>
            </a:r>
            <a:r>
              <a:rPr lang="en-US" altLang="en-US" sz="2600" dirty="0">
                <a:solidFill>
                  <a:schemeClr val="tx1"/>
                </a:solidFill>
              </a:rPr>
              <a:t>extreme conditions </a:t>
            </a:r>
            <a:r>
              <a:rPr lang="en-US" altLang="en-US" sz="2600" dirty="0" smtClean="0">
                <a:solidFill>
                  <a:schemeClr val="tx1"/>
                </a:solidFill>
              </a:rPr>
              <a:t>like </a:t>
            </a:r>
            <a:r>
              <a:rPr lang="en-US" altLang="en-US" sz="2600" dirty="0">
                <a:solidFill>
                  <a:schemeClr val="tx1"/>
                </a:solidFill>
              </a:rPr>
              <a:t>heavy rain or high humidity. </a:t>
            </a:r>
            <a:endParaRPr lang="en-US" altLang="en-US" sz="2600" dirty="0" smtClean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6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600" b="1" dirty="0">
                <a:solidFill>
                  <a:schemeClr val="tx1"/>
                </a:solidFill>
              </a:rPr>
              <a:t>Peak usage occurs during commuting hours</a:t>
            </a:r>
            <a:r>
              <a:rPr lang="en-US" altLang="en-US" sz="2600" dirty="0">
                <a:solidFill>
                  <a:schemeClr val="tx1"/>
                </a:solidFill>
              </a:rPr>
              <a:t>, indicating that bike sharing is </a:t>
            </a:r>
            <a:r>
              <a:rPr lang="en-US" altLang="en-US" sz="2600" dirty="0" smtClean="0">
                <a:solidFill>
                  <a:schemeClr val="tx1"/>
                </a:solidFill>
              </a:rPr>
              <a:t>widely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6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00" dirty="0" smtClean="0">
                <a:solidFill>
                  <a:schemeClr val="tx1"/>
                </a:solidFill>
              </a:rPr>
              <a:t> </a:t>
            </a:r>
            <a:r>
              <a:rPr lang="en-US" altLang="en-US" sz="2600" dirty="0">
                <a:solidFill>
                  <a:schemeClr val="tx1"/>
                </a:solidFill>
              </a:rPr>
              <a:t>used for daily transportation. </a:t>
            </a:r>
            <a:endParaRPr lang="en-US" altLang="en-US" sz="2600" dirty="0" smtClean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969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Conclusions</a:t>
            </a:r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Seasonal trends reveal that </a:t>
            </a:r>
            <a:r>
              <a:rPr lang="en-US" altLang="en-US" b="1" dirty="0">
                <a:solidFill>
                  <a:schemeClr val="tx1"/>
                </a:solidFill>
              </a:rPr>
              <a:t>demand increases in warmer months</a:t>
            </a:r>
            <a:r>
              <a:rPr lang="en-US" altLang="en-US" dirty="0">
                <a:solidFill>
                  <a:schemeClr val="tx1"/>
                </a:solidFill>
              </a:rPr>
              <a:t> and </a:t>
            </a:r>
            <a:endParaRPr lang="en-US" altLang="en-US" dirty="0" smtClean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 smtClean="0">
                <a:solidFill>
                  <a:schemeClr val="tx1"/>
                </a:solidFill>
              </a:rPr>
              <a:t>decreases </a:t>
            </a:r>
            <a:r>
              <a:rPr lang="en-US" altLang="en-US" dirty="0">
                <a:solidFill>
                  <a:schemeClr val="tx1"/>
                </a:solidFill>
              </a:rPr>
              <a:t>in colder or unfavorable seasons. </a:t>
            </a:r>
            <a:endParaRPr lang="en-US" altLang="en-US" dirty="0" smtClean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The study confirms that </a:t>
            </a:r>
            <a:r>
              <a:rPr lang="en-US" altLang="en-US" b="1" dirty="0">
                <a:solidFill>
                  <a:schemeClr val="tx1"/>
                </a:solidFill>
              </a:rPr>
              <a:t>data analysis techniques can effectively predict </a:t>
            </a:r>
            <a:r>
              <a:rPr lang="en-US" altLang="en-US" b="1" dirty="0" smtClean="0">
                <a:solidFill>
                  <a:schemeClr val="tx1"/>
                </a:solidFill>
              </a:rPr>
              <a:t>demand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b="1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 smtClean="0">
                <a:solidFill>
                  <a:schemeClr val="tx1"/>
                </a:solidFill>
              </a:rPr>
              <a:t> </a:t>
            </a:r>
            <a:r>
              <a:rPr lang="en-US" altLang="en-US" b="1" dirty="0">
                <a:solidFill>
                  <a:schemeClr val="tx1"/>
                </a:solidFill>
              </a:rPr>
              <a:t>patterns</a:t>
            </a:r>
            <a:r>
              <a:rPr lang="en-US" altLang="en-US" dirty="0">
                <a:solidFill>
                  <a:schemeClr val="tx1"/>
                </a:solidFill>
              </a:rPr>
              <a:t>, helping in </a:t>
            </a:r>
            <a:r>
              <a:rPr lang="en-US" altLang="en-US" dirty="0" smtClean="0">
                <a:solidFill>
                  <a:schemeClr val="tx1"/>
                </a:solidFill>
              </a:rPr>
              <a:t>better </a:t>
            </a:r>
            <a:r>
              <a:rPr lang="en-US" altLang="en-US" dirty="0">
                <a:solidFill>
                  <a:schemeClr val="tx1"/>
                </a:solidFill>
              </a:rPr>
              <a:t>resource planning and bike distribution. </a:t>
            </a:r>
            <a:endParaRPr lang="en-US" altLang="en-US" dirty="0" smtClean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Proper demand forecasting can help operators </a:t>
            </a:r>
            <a:r>
              <a:rPr lang="en-US" altLang="en-US" b="1" dirty="0">
                <a:solidFill>
                  <a:schemeClr val="tx1"/>
                </a:solidFill>
              </a:rPr>
              <a:t>optimize availability, </a:t>
            </a:r>
            <a:r>
              <a:rPr lang="en-US" altLang="en-US" b="1" dirty="0" smtClean="0">
                <a:solidFill>
                  <a:schemeClr val="tx1"/>
                </a:solidFill>
              </a:rPr>
              <a:t>reduce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b="1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 smtClean="0">
                <a:solidFill>
                  <a:schemeClr val="tx1"/>
                </a:solidFill>
              </a:rPr>
              <a:t>shortages</a:t>
            </a:r>
            <a:r>
              <a:rPr lang="en-US" altLang="en-US" b="1" dirty="0">
                <a:solidFill>
                  <a:schemeClr val="tx1"/>
                </a:solidFill>
              </a:rPr>
              <a:t>, and improve </a:t>
            </a:r>
            <a:r>
              <a:rPr lang="en-US" altLang="en-US" b="1" dirty="0" smtClean="0">
                <a:solidFill>
                  <a:schemeClr val="tx1"/>
                </a:solidFill>
              </a:rPr>
              <a:t>customer satisfaction.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1165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23627" y="1647220"/>
            <a:ext cx="560762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IN" sz="9600" b="1" dirty="0" smtClean="0">
                <a:solidFill>
                  <a:schemeClr val="accent3">
                    <a:lumMod val="50000"/>
                  </a:schemeClr>
                </a:solidFill>
                <a:latin typeface="Monotype Corsiva" panose="03010101010201010101" pitchFamily="66" charset="0"/>
              </a:rPr>
              <a:t>Thank You !</a:t>
            </a:r>
            <a:endParaRPr lang="en-IN" sz="9600" b="1" dirty="0" smtClean="0">
              <a:solidFill>
                <a:schemeClr val="accent3">
                  <a:lumMod val="50000"/>
                </a:schemeClr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80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Override1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95</TotalTime>
  <Words>576</Words>
  <Application>Microsoft Office PowerPoint</Application>
  <PresentationFormat>Widescreen</PresentationFormat>
  <Paragraphs>85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Microsoft YaHei</vt:lpstr>
      <vt:lpstr>Agency FB</vt:lpstr>
      <vt:lpstr>Arial</vt:lpstr>
      <vt:lpstr>Garamond</vt:lpstr>
      <vt:lpstr>Lucida Sans Unicode</vt:lpstr>
      <vt:lpstr>Monotype Corsiva</vt:lpstr>
      <vt:lpstr>Organic</vt:lpstr>
      <vt:lpstr> Bike Sharing Demand Analysis</vt:lpstr>
      <vt:lpstr>Problem Statement</vt:lpstr>
      <vt:lpstr>Dataset Description</vt:lpstr>
      <vt:lpstr>Data Cleaning</vt:lpstr>
      <vt:lpstr>Tools &amp; Functions Used</vt:lpstr>
      <vt:lpstr>Data Analysis</vt:lpstr>
      <vt:lpstr>Data set A – Chart 1 &amp; 2</vt:lpstr>
      <vt:lpstr>Dataset – Chart 3 &amp; 4</vt:lpstr>
      <vt:lpstr>Final Dataset – Chart 1 &amp; 2</vt:lpstr>
      <vt:lpstr>Final Dataset – Chart 3 &amp; 4</vt:lpstr>
      <vt:lpstr>Statistical Functions</vt:lpstr>
      <vt:lpstr>Dashboard </vt:lpstr>
      <vt:lpstr>PowerPoint Presentation</vt:lpstr>
      <vt:lpstr>PowerPoint Presentation</vt:lpstr>
      <vt:lpstr>Key Insights. (Main points)</vt:lpstr>
      <vt:lpstr>Conclusions </vt:lpstr>
      <vt:lpstr>Conclusions </vt:lpstr>
      <vt:lpstr>Conclusions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Sharing Demand Analysis</dc:title>
  <dc:creator>hp</dc:creator>
  <cp:lastModifiedBy>hp</cp:lastModifiedBy>
  <cp:revision>13</cp:revision>
  <dcterms:created xsi:type="dcterms:W3CDTF">2026-03-24T18:18:04Z</dcterms:created>
  <dcterms:modified xsi:type="dcterms:W3CDTF">2026-03-24T19:53:45Z</dcterms:modified>
</cp:coreProperties>
</file>